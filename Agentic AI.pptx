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Plus Jakarta Sans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408711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361307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A CONCISE INTRODUCTION TO INTELLIGENT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85157"/>
            <a:ext cx="11430000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1E293B"/>
                </a:solidFill>
                <a:latin typeface="Plus Jakarta Sans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50877"/>
            <a:ext cx="8334375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Autonomous AI systems that reason, plan and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3775" y="6153150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133600"/>
            <a:ext cx="50958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276600"/>
            <a:ext cx="50958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419600"/>
            <a:ext cx="50958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038350"/>
            <a:ext cx="5114925" cy="3429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47875"/>
            <a:ext cx="5095875" cy="3409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What is Agentic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5200" y="6153150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2371725"/>
            <a:ext cx="60632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Goal Pursuit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647950"/>
            <a:ext cx="5774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AI that can pursue goals with limited human intervention.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514725"/>
            <a:ext cx="60632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Core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790950"/>
            <a:ext cx="5774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Combines reasoning, planning, tool use, memory, and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657725"/>
            <a:ext cx="60632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Beyond Chatbots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933950"/>
            <a:ext cx="5774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Unlike simple chatbots, agents decide what steps to take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228850"/>
            <a:ext cx="5167312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4112" y="2228850"/>
            <a:ext cx="5195887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34112" y="5267325"/>
            <a:ext cx="5195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34112" y="2228850"/>
            <a:ext cx="5195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4112" y="2228850"/>
            <a:ext cx="38100" cy="304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20475" y="2228850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0099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112" y="300990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314325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143250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AI Agent vs. Agentic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15675" y="6153150"/>
            <a:ext cx="600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3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" y="3657600"/>
            <a:ext cx="58569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4038600"/>
            <a:ext cx="4557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A software entity that performs a task using inputs and rules or pre-trained models.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5112" y="3657600"/>
            <a:ext cx="55768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Agentic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5112" y="4038600"/>
            <a:ext cx="4557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A broader approach where agents operate autonomously toward goals, coordinating multiple agents and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790825"/>
            <a:ext cx="5181600" cy="192405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776537"/>
            <a:ext cx="5181600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8400" y="4719637"/>
            <a:ext cx="518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2776537"/>
            <a:ext cx="51816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2776537"/>
            <a:ext cx="9525" cy="1952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20475" y="2776537"/>
            <a:ext cx="9525" cy="1952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533775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88620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23862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548062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900487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4252912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Traditional AI vs. Agentic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5675" y="6153150"/>
            <a:ext cx="600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4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3105150"/>
            <a:ext cx="59757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Traditional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119437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Agentic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3025" y="3495675"/>
            <a:ext cx="5424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Plus Jakarta Sans"/>
              </a:rPr>
              <a:t>Responds to specific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" y="3848100"/>
            <a:ext cx="5424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Plus Jakarta Sans"/>
              </a:rPr>
              <a:t>Follows predefined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3025" y="4200525"/>
            <a:ext cx="5424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Plus Jakarta Sans"/>
              </a:rPr>
              <a:t>Predict and respond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9425" y="3509962"/>
            <a:ext cx="5362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lus Jakarta Sans"/>
              </a:rPr>
              <a:t>Breaks goals into sub-tasks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9425" y="3862387"/>
            <a:ext cx="5362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lus Jakarta Sans"/>
              </a:rPr>
              <a:t>Dynamically chooses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9425" y="4214812"/>
            <a:ext cx="5362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lus Jakarta Sans"/>
              </a:rPr>
              <a:t>Reason, plan and act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95725"/>
            <a:ext cx="10668000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2857500"/>
            <a:ext cx="201170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109" y="2857500"/>
            <a:ext cx="201170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90219" y="2857500"/>
            <a:ext cx="201170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54329" y="2857500"/>
            <a:ext cx="201170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18439" y="2857500"/>
            <a:ext cx="201170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Architecture of 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5675" y="6153150"/>
            <a:ext cx="600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5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36921" y="4133850"/>
            <a:ext cx="12465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Feedback is used to revise the plan through observation and memory until the goal is achieved.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567" y="3057525"/>
            <a:ext cx="20145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F46E5"/>
                </a:solidFill>
                <a:latin typeface="Plus Jakarta Sans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203" y="3267075"/>
            <a:ext cx="2115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User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4677" y="3057525"/>
            <a:ext cx="20145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F46E5"/>
                </a:solidFill>
                <a:latin typeface="Plus Jakarta Sans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4312" y="3267075"/>
            <a:ext cx="2115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8787" y="3057525"/>
            <a:ext cx="20145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F46E5"/>
                </a:solidFill>
                <a:latin typeface="Plus Jakarta Sans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422" y="3267075"/>
            <a:ext cx="2115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2896" y="3057525"/>
            <a:ext cx="20145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F46E5"/>
                </a:solidFill>
                <a:latin typeface="Plus Jakarta Sans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2532" y="3267075"/>
            <a:ext cx="2115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Tool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7006" y="3057525"/>
            <a:ext cx="20145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F46E5"/>
                </a:solidFill>
                <a:latin typeface="Plus Jakarta Sans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6642" y="3267075"/>
            <a:ext cx="2115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15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01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15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01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153150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6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Perception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Understands user requests and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1933575"/>
            <a:ext cx="3124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Analyzes information and selects suitable 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1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1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Decomposes complex goals into smaller tasks.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Stores useful context and past interactions.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4267200"/>
            <a:ext cx="3124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APIs, databases, browsers, and code interpreters.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3468" y="4791075"/>
            <a:ext cx="2024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4F46E5"/>
                </a:solidFill>
                <a:latin typeface="Plus Jakarta Sans"/>
              </a:rPr>
              <a:t>Integrated Agent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438400"/>
            <a:ext cx="5172075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114675"/>
            <a:ext cx="5172075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790950"/>
            <a:ext cx="5172075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2000" y="4467225"/>
            <a:ext cx="5172075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95500"/>
            <a:ext cx="5191125" cy="3238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05025"/>
            <a:ext cx="5172075" cy="3219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How Agentic AI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153150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7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600325"/>
            <a:ext cx="447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lus Jakarta Sa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50" y="2600325"/>
            <a:ext cx="3833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Receive a goal and understand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276600"/>
            <a:ext cx="485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3276600"/>
            <a:ext cx="3679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Create plan and select appropriate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952875"/>
            <a:ext cx="485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lus Jakarta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450" y="3952875"/>
            <a:ext cx="3286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Execute actions and observe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629150"/>
            <a:ext cx="485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lus Jakarta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4629150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Evaluate, revise, and deliver final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15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01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15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01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Types of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5675" y="6153150"/>
            <a:ext cx="600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8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Reactive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Respond directly to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Goal-Based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Choose actions to achieve a specific goal.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1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Utility-Based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1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Select actions based on expected usefulness.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Learning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Improve continuously from experience.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Multi-Agent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Multiple agents collaborate and coordinate.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0125" y="4791075"/>
            <a:ext cx="219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4F46E5"/>
                </a:solidFill>
                <a:latin typeface="Plus Jakarta Sans"/>
              </a:rPr>
              <a:t>Taxonomy of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943225"/>
            <a:ext cx="2509837" cy="695325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24237" y="2943225"/>
            <a:ext cx="2509837" cy="695325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790950"/>
            <a:ext cx="2509837" cy="695325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4237" y="3790950"/>
            <a:ext cx="2509837" cy="695325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95500"/>
            <a:ext cx="5191125" cy="3238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05025"/>
            <a:ext cx="5172075" cy="3219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Technologies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153150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9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05150"/>
            <a:ext cx="286910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324225"/>
            <a:ext cx="2732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Core reasoning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6162" y="3105150"/>
            <a:ext cx="286910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162" y="3324225"/>
            <a:ext cx="2732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Retrieval augmentation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952875"/>
            <a:ext cx="286910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171950"/>
            <a:ext cx="2732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Function calling and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6162" y="3952875"/>
            <a:ext cx="286910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Vector DBs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6162" y="4171950"/>
            <a:ext cx="2732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Semantic embeddings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15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01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15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01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Real-World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8525" y="6153150"/>
            <a:ext cx="657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10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Customer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Automated multi-step service resolution.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Software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Autonomous coding and debugging assistance.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1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Research &amp; Gathering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1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Deep information synthesis and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Cybersecurity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Continuous threat monitoring and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Business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Streamlining complex multi-system workflows.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10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Healthcare &amp; Edu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10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Personalized learning and care assistance.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76375"/>
            <a:ext cx="521970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476375"/>
            <a:ext cx="521970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829050"/>
            <a:ext cx="521970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829050"/>
            <a:ext cx="521970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171450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4067175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4067175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828800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828800"/>
            <a:ext cx="1714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" y="418147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181475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Advantages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6150" y="6153150"/>
            <a:ext cx="609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11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1714500"/>
            <a:ext cx="4800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Reduces Manual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1990725"/>
            <a:ext cx="4572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Eliminates repetitive tasks through smart automation.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1825" y="1714500"/>
            <a:ext cx="5210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Multi-Step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1825" y="1990725"/>
            <a:ext cx="5024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Handles complex workflows seamlessly from start to finish.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3525" y="4067175"/>
            <a:ext cx="48756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Dynamic Adaptation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3525" y="4343400"/>
            <a:ext cx="4643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Adapts plans dynamically based on new real-time info.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1825" y="4067175"/>
            <a:ext cx="5210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Tool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1825" y="4343400"/>
            <a:ext cx="5036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Integrates multiple external tools and diverse data sources.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15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01000" y="1476375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15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01000" y="3810000"/>
            <a:ext cx="34290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Challenges &amp;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77575" y="6153150"/>
            <a:ext cx="638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12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Hallucinations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Incorrect reasoning or factual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Security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Privacy and unauthorized access risks.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1025" y="167640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Unpredictability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1025" y="193357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Complex workflows can behave unexpectedly.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Tool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API timeouts or breakdowns affect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High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High computational and operational expenses.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1025" y="4010025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Oversight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1025" y="426720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Requires strict monitoring and permissions.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347912"/>
            <a:ext cx="5172075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309937"/>
            <a:ext cx="5172075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271962"/>
            <a:ext cx="5172075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95500"/>
            <a:ext cx="5191125" cy="3238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05025"/>
            <a:ext cx="5172075" cy="3219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Future of Agentic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8050" y="6153150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13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547937"/>
            <a:ext cx="626328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Autonomous Assistants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786062"/>
            <a:ext cx="5965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More capable digital coworkers for daily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509962"/>
            <a:ext cx="626328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Multi-Agent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748087"/>
            <a:ext cx="5965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Teams of specialized agents solving enterprise projects.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471987"/>
            <a:ext cx="626328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Robust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710112"/>
            <a:ext cx="5965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Stronger safety, memory, and human-in-the-loop controls.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057400"/>
            <a:ext cx="762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238500"/>
            <a:ext cx="762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419600"/>
            <a:ext cx="762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E293B"/>
                </a:solidFill>
                <a:latin typeface="Plus Jakarta San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906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8050" y="6153150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14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295525"/>
            <a:ext cx="93761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Goal 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571750"/>
            <a:ext cx="8929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Agentic AI moves AI from answering questions toward actively completing complex goals.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476625"/>
            <a:ext cx="93761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The Core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52850"/>
            <a:ext cx="8929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Perceive → reason → plan → act → observe → improve continuously.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4657725"/>
            <a:ext cx="93761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Responsible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933950"/>
            <a:ext cx="8929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Requires security, robust evaluation, monitoring, and human oversight.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0" y="39195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95787" y="2528887"/>
            <a:ext cx="3400425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E293B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37484" y="3348037"/>
            <a:ext cx="29170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64748B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15315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8050" y="6153150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15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1390650"/>
            <a:ext cx="9525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33500" y="2238375"/>
            <a:ext cx="9525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33500" y="3086100"/>
            <a:ext cx="9525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33500" y="222885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33500" y="222885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076575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33500" y="3076575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33500" y="384810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3500" y="384810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5716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93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2289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0050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500" y="11049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875" y="1533525"/>
            <a:ext cx="8524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https://media.istockphoto.com/id/1206796363/photo/ai-machine-learning-hands-of-robot-and-human-touching-on-big-data-network-connection.jpg?s=612x612&amp;w=0&amp;k=20&amp;c=xIX5Bz7h50B83cCZG_gXkyZSOu-mG93DtOcNK7RNEAo=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875" y="1885950"/>
            <a:ext cx="2833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8875" y="2381250"/>
            <a:ext cx="8524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https://b2287888.assetcdn.net/2.0/2287888/wp-content/uploads/2025/04/neural-network-connections-illustration.jpg?lossy=1&amp;strip=1&amp;webp=1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875" y="2733675"/>
            <a:ext cx="3131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www.presentationgo.com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8875" y="3267075"/>
            <a:ext cx="976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https://images.stockcake.com/public/2/0/9/20929d4f-d3af-46bd-a2ea-3a176c833ca4_large/illuminated-neural-network-stockcake.jpg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875" y="3467100"/>
            <a:ext cx="2178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stockcake.com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8875" y="4038600"/>
            <a:ext cx="6619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https://roticsymposium.com/wp-content/uploads/2025/02/futuristic-robotic-arm.png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875" y="4238625"/>
            <a:ext cx="2690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roticsymposium.com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667</Words>
  <Application>Microsoft Office PowerPoint</Application>
  <PresentationFormat>Widescreen</PresentationFormat>
  <Paragraphs>181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2026-10-07T05:33:20Z</dcterms:modified>
  <cp:category/>
</cp:coreProperties>
</file>